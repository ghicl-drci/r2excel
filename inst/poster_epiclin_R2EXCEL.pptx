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9601200" cy="12801600" type="A3"/>
  <p:notesSz cx="9926638" cy="143557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ldaureille_Cassandra" initials="C" lastIdx="5" clrIdx="0">
    <p:extLst>
      <p:ext uri="{19B8F6BF-5375-455C-9EA6-DF929625EA0E}">
        <p15:presenceInfo xmlns:p15="http://schemas.microsoft.com/office/powerpoint/2012/main" userId="Chaldaureille_Cassand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51BAAA"/>
    <a:srgbClr val="D7A3BF"/>
    <a:srgbClr val="558ED5"/>
    <a:srgbClr val="52E4D3"/>
    <a:srgbClr val="FFFFFF"/>
    <a:srgbClr val="F59F26"/>
    <a:srgbClr val="41938C"/>
    <a:srgbClr val="E49934"/>
    <a:srgbClr val="4DBC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6323" autoAdjust="0"/>
  </p:normalViewPr>
  <p:slideViewPr>
    <p:cSldViewPr snapToGrid="0">
      <p:cViewPr>
        <p:scale>
          <a:sx n="60" d="100"/>
          <a:sy n="60" d="100"/>
        </p:scale>
        <p:origin x="2910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20282"/>
          </a:xfrm>
          <a:prstGeom prst="rect">
            <a:avLst/>
          </a:prstGeom>
        </p:spPr>
        <p:txBody>
          <a:bodyPr vert="horz" lIns="138741" tIns="69370" rIns="138741" bIns="69370" rtlCol="0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720282"/>
          </a:xfrm>
          <a:prstGeom prst="rect">
            <a:avLst/>
          </a:prstGeom>
        </p:spPr>
        <p:txBody>
          <a:bodyPr vert="horz" lIns="138741" tIns="69370" rIns="138741" bIns="69370" rtlCol="0"/>
          <a:lstStyle>
            <a:lvl1pPr algn="r">
              <a:defRPr sz="1700"/>
            </a:lvl1pPr>
          </a:lstStyle>
          <a:p>
            <a:fld id="{B2681AD9-6866-4FBA-A258-8CFDE44C39C0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146425" y="1792288"/>
            <a:ext cx="3633788" cy="48466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8741" tIns="69370" rIns="138741" bIns="6937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92665" y="6908712"/>
            <a:ext cx="7941310" cy="5652582"/>
          </a:xfrm>
          <a:prstGeom prst="rect">
            <a:avLst/>
          </a:prstGeom>
        </p:spPr>
        <p:txBody>
          <a:bodyPr vert="horz" lIns="138741" tIns="69370" rIns="138741" bIns="6937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1" y="13635485"/>
            <a:ext cx="4301543" cy="720280"/>
          </a:xfrm>
          <a:prstGeom prst="rect">
            <a:avLst/>
          </a:prstGeom>
        </p:spPr>
        <p:txBody>
          <a:bodyPr vert="horz" lIns="138741" tIns="69370" rIns="138741" bIns="69370" rtlCol="0" anchor="b"/>
          <a:lstStyle>
            <a:lvl1pPr algn="l">
              <a:defRPr sz="17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622799" y="13635485"/>
            <a:ext cx="4301543" cy="720280"/>
          </a:xfrm>
          <a:prstGeom prst="rect">
            <a:avLst/>
          </a:prstGeom>
        </p:spPr>
        <p:txBody>
          <a:bodyPr vert="horz" lIns="138741" tIns="69370" rIns="138741" bIns="69370" rtlCol="0" anchor="b"/>
          <a:lstStyle>
            <a:lvl1pPr algn="r">
              <a:defRPr sz="1700"/>
            </a:lvl1pPr>
          </a:lstStyle>
          <a:p>
            <a:fld id="{9664E29E-C4B2-4530-8845-9070783322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8724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64E29E-C4B2-4530-8845-9070783322E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744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1794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76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0244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5173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1920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037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156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758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1321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63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8552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1F046-75DA-4744-BB4C-020CCF9920EA}" type="datetimeFigureOut">
              <a:rPr lang="fr-FR" smtClean="0"/>
              <a:t>30/04/2025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FCBEFA-C1A9-40E7-8A63-A1B66D7057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1810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8CD9E439-5817-4D4D-8656-49C5688CD507}"/>
              </a:ext>
            </a:extLst>
          </p:cNvPr>
          <p:cNvSpPr/>
          <p:nvPr/>
        </p:nvSpPr>
        <p:spPr>
          <a:xfrm>
            <a:off x="27462" y="5274702"/>
            <a:ext cx="5675085" cy="1371175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2E4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dirty="0">
                <a:solidFill>
                  <a:schemeClr val="accent2"/>
                </a:solidFill>
                <a:latin typeface="Consolas" panose="020B0609020204030204" pitchFamily="49" charset="0"/>
              </a:rPr>
              <a:t>library</a:t>
            </a:r>
            <a:r>
              <a:rPr lang="fr-FR" sz="1400" dirty="0">
                <a:solidFill>
                  <a:srgbClr val="CE9178"/>
                </a:solidFill>
                <a:latin typeface="Consolas" panose="020B0609020204030204" pitchFamily="49" charset="0"/>
              </a:rPr>
              <a:t>(</a:t>
            </a:r>
            <a:r>
              <a:rPr lang="fr-FR" sz="1400" b="1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R2Excel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endParaRPr lang="fr-FR" sz="1400" dirty="0"/>
          </a:p>
          <a:p>
            <a:r>
              <a:rPr lang="fr-FR" sz="1400" b="1" dirty="0" err="1">
                <a:solidFill>
                  <a:srgbClr val="558ED5"/>
                </a:solidFill>
                <a:effectLst/>
                <a:latin typeface="Consolas" panose="020B0609020204030204" pitchFamily="49" charset="0"/>
              </a:rPr>
              <a:t>save_excel_results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dataframe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my_df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vars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 c(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"IMC"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"Sexe"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varstrat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"GROUPE"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file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Desc_group.xlsx"</a:t>
            </a:r>
            <a:endParaRPr lang="fr-FR" sz="1400" b="0" dirty="0">
              <a:solidFill>
                <a:schemeClr val="accent3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90183BB-6CEC-40F9-954B-94840F4F1CF9}"/>
              </a:ext>
            </a:extLst>
          </p:cNvPr>
          <p:cNvSpPr/>
          <p:nvPr/>
        </p:nvSpPr>
        <p:spPr>
          <a:xfrm>
            <a:off x="28576" y="29028"/>
            <a:ext cx="7741919" cy="954512"/>
          </a:xfrm>
          <a:prstGeom prst="roundRect">
            <a:avLst/>
          </a:prstGeom>
          <a:solidFill>
            <a:srgbClr val="41938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effectLst/>
                <a:latin typeface="Calibri Light" panose="020F0302020204030204" pitchFamily="34" charset="0"/>
                <a:ea typeface="Calibri" panose="020F0502020204030204" pitchFamily="34" charset="0"/>
              </a:rPr>
              <a:t>R2Excel : Pourquoi et comment le développement d’un package R peut devenir votre meilleur atout dans une démarche qualité </a:t>
            </a:r>
            <a:r>
              <a:rPr lang="en-GB" b="1" dirty="0">
                <a:effectLst/>
                <a:latin typeface="Calibri Light" panose="020F0302020204030204" pitchFamily="34" charset="0"/>
                <a:ea typeface="Calibri" panose="020F0502020204030204" pitchFamily="34" charset="0"/>
              </a:rPr>
              <a:t>?</a:t>
            </a:r>
            <a:br>
              <a:rPr lang="en-GB" sz="1600" b="1" dirty="0">
                <a:latin typeface="Calibri Light" panose="020F0302020204030204" pitchFamily="34" charset="0"/>
                <a:ea typeface="Calibri" panose="020F0502020204030204" pitchFamily="34" charset="0"/>
              </a:rPr>
            </a:b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C. </a:t>
            </a: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Chaldaureille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M. Boissel, L. </a:t>
            </a:r>
            <a:r>
              <a:rPr kumimoji="0" lang="fr-FR" sz="10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Norberciak</a:t>
            </a:r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C. Preda</a:t>
            </a:r>
          </a:p>
          <a:p>
            <a:pPr algn="ctr"/>
            <a:r>
              <a:rPr kumimoji="0" lang="fr-F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Groupement des Hôpitaux de l’Institut Catholique de Lille, Délégation à la Recherche Clinique et à l’Innovation 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B60E1E2F-BB9F-4FAF-9884-B0CF2DF4B3D9}"/>
              </a:ext>
            </a:extLst>
          </p:cNvPr>
          <p:cNvSpPr/>
          <p:nvPr/>
        </p:nvSpPr>
        <p:spPr>
          <a:xfrm>
            <a:off x="28575" y="2975463"/>
            <a:ext cx="9542145" cy="651216"/>
          </a:xfrm>
          <a:prstGeom prst="roundRect">
            <a:avLst>
              <a:gd name="adj" fmla="val 6187"/>
            </a:avLst>
          </a:prstGeom>
          <a:solidFill>
            <a:srgbClr val="51BAA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fr-FR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Objectif : D</a:t>
            </a:r>
            <a:r>
              <a:rPr lang="fr-FR" dirty="0">
                <a:latin typeface="+mj-lt"/>
                <a:cs typeface="Times New Roman" panose="02020603050405020304" pitchFamily="18" charset="0"/>
              </a:rPr>
              <a:t>évelopper un package R pour standardiser </a:t>
            </a:r>
            <a:r>
              <a:rPr lang="fr-FR" dirty="0">
                <a:effectLst/>
                <a:latin typeface="+mj-lt"/>
                <a:ea typeface="Calibri" panose="020F0502020204030204" pitchFamily="34" charset="0"/>
                <a:cs typeface="Times New Roman" panose="02020603050405020304" pitchFamily="18" charset="0"/>
              </a:rPr>
              <a:t>les étapes clés de l'analyse des études cliniques, depuis la description des données jusqu'au choix rigoureux des tests statistiques bivariés.</a:t>
            </a:r>
            <a:endParaRPr lang="fr-FR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A70A9323-CF2A-4AD1-8AEC-E96FA31D20A1}"/>
              </a:ext>
            </a:extLst>
          </p:cNvPr>
          <p:cNvSpPr/>
          <p:nvPr/>
        </p:nvSpPr>
        <p:spPr>
          <a:xfrm>
            <a:off x="156315" y="22907"/>
            <a:ext cx="6823606" cy="575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/>
            <a:endParaRPr lang="en-US" sz="2200" dirty="0"/>
          </a:p>
        </p:txBody>
      </p:sp>
      <p:sp>
        <p:nvSpPr>
          <p:cNvPr id="41" name="Rectangle : coins arrondis 40">
            <a:extLst>
              <a:ext uri="{FF2B5EF4-FFF2-40B4-BE49-F238E27FC236}">
                <a16:creationId xmlns:a16="http://schemas.microsoft.com/office/drawing/2014/main" id="{F9D5156E-8363-41CF-AEC9-D98158373217}"/>
              </a:ext>
            </a:extLst>
          </p:cNvPr>
          <p:cNvSpPr/>
          <p:nvPr/>
        </p:nvSpPr>
        <p:spPr>
          <a:xfrm>
            <a:off x="6486395" y="1069101"/>
            <a:ext cx="3086230" cy="1795768"/>
          </a:xfrm>
          <a:prstGeom prst="roundRect">
            <a:avLst>
              <a:gd name="adj" fmla="val 11363"/>
            </a:avLst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7000"/>
              </a:lnSpc>
            </a:pPr>
            <a:r>
              <a:rPr lang="en-GB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   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Le langage de programmation </a:t>
            </a:r>
            <a:r>
              <a:rPr lang="fr-FR" sz="1600" dirty="0">
                <a:solidFill>
                  <a:schemeClr val="bg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,,   ,,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 et son écosystème de packages</a:t>
            </a:r>
            <a:r>
              <a:rPr lang="fr-FR" sz="14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: une opportunité d'harmoniser les méthodologies et de favoriser un cadre partagé au sein et au-delà des équipes de biostatistique.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4C6BF9A2-5F34-4A0E-BD88-AC3027209633}"/>
              </a:ext>
            </a:extLst>
          </p:cNvPr>
          <p:cNvSpPr/>
          <p:nvPr/>
        </p:nvSpPr>
        <p:spPr>
          <a:xfrm>
            <a:off x="3353221" y="1086581"/>
            <a:ext cx="3008928" cy="1795768"/>
          </a:xfrm>
          <a:prstGeom prst="roundRect">
            <a:avLst>
              <a:gd name="adj" fmla="val 8711"/>
            </a:avLst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Challenge :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pratiques standardisées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nature variée des données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sujets innovants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renouvellement des équipes, diverses habitudes et approches de l'analyse</a:t>
            </a:r>
            <a:endParaRPr lang="en-GB" sz="1600" dirty="0">
              <a:solidFill>
                <a:schemeClr val="tx1"/>
              </a:solidFill>
              <a:latin typeface="Calibri Light" panose="020F03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1" name="Rectangle : coins arrondis 50">
            <a:extLst>
              <a:ext uri="{FF2B5EF4-FFF2-40B4-BE49-F238E27FC236}">
                <a16:creationId xmlns:a16="http://schemas.microsoft.com/office/drawing/2014/main" id="{BBC67B44-5B6C-4DC2-87B1-DF0BF380FE49}"/>
              </a:ext>
            </a:extLst>
          </p:cNvPr>
          <p:cNvSpPr/>
          <p:nvPr/>
        </p:nvSpPr>
        <p:spPr>
          <a:xfrm>
            <a:off x="28575" y="1080135"/>
            <a:ext cx="3200400" cy="1795768"/>
          </a:xfrm>
          <a:prstGeom prst="roundRect">
            <a:avLst>
              <a:gd name="adj" fmla="val 10832"/>
            </a:avLst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L'hôpital a besoin d'une assurance qualité, les services de recherche contribuant activement à cet effort. Les biostatisticiens jouent un rôle essentiel à différents stades des études cliniques, en particulier lors de l'analyse des données.</a:t>
            </a:r>
            <a:r>
              <a:rPr lang="en-GB" sz="1600" dirty="0"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GB" sz="1600" dirty="0">
              <a:solidFill>
                <a:schemeClr val="tx1"/>
              </a:solidFill>
              <a:latin typeface="Calibri Light" panose="020F03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1A689DC5-B544-4E11-AF75-610CB466B7F9}"/>
              </a:ext>
            </a:extLst>
          </p:cNvPr>
          <p:cNvSpPr/>
          <p:nvPr/>
        </p:nvSpPr>
        <p:spPr>
          <a:xfrm>
            <a:off x="28575" y="3735368"/>
            <a:ext cx="2523621" cy="1258295"/>
          </a:xfrm>
          <a:prstGeom prst="roundRect">
            <a:avLst/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lang="fr-FR" sz="1600" b="1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  <a:t>Approche initiale </a:t>
            </a:r>
            <a:br>
              <a:rPr lang="fr-FR" sz="1600" b="1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</a:br>
            <a:r>
              <a:rPr lang="fr-FR" sz="1600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  <a:t>Identification des besoins,</a:t>
            </a:r>
            <a:br>
              <a:rPr lang="fr-FR" sz="1600" b="1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</a:br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aleway" pitchFamily="34" charset="-120"/>
              </a:rPr>
              <a:t>G</a:t>
            </a:r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uide pour les analyses,</a:t>
            </a:r>
            <a:b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</a:br>
            <a:r>
              <a:rPr lang="fr-FR" sz="1600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  <a:t>Chargement des </a:t>
            </a:r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scripts R partagés</a:t>
            </a:r>
            <a:endParaRPr lang="fr-FR" sz="1600" dirty="0">
              <a:solidFill>
                <a:srgbClr val="3C3939"/>
              </a:solidFill>
              <a:latin typeface="+mj-lt"/>
              <a:ea typeface="Roboto" pitchFamily="34" charset="-122"/>
            </a:endParaRP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ED2C6676-C842-4E37-831A-75E1A3592B93}"/>
              </a:ext>
            </a:extLst>
          </p:cNvPr>
          <p:cNvSpPr/>
          <p:nvPr/>
        </p:nvSpPr>
        <p:spPr>
          <a:xfrm>
            <a:off x="2837180" y="3735368"/>
            <a:ext cx="3125563" cy="1400672"/>
          </a:xfrm>
          <a:prstGeom prst="roundRect">
            <a:avLst/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  <a:t>R2Excel Package</a:t>
            </a:r>
          </a:p>
          <a:p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Consolidation fonctions &amp; style, Documentation {roxygen2}, </a:t>
            </a:r>
            <a:b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</a:b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Jeux de données {</a:t>
            </a:r>
            <a:r>
              <a:rPr lang="fr-FR" sz="1600" dirty="0" err="1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usethis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}, Tests unitaires {</a:t>
            </a:r>
            <a:r>
              <a:rPr lang="fr-FR" sz="1600" dirty="0" err="1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testthat</a:t>
            </a:r>
            <a:r>
              <a:rPr lang="fr-FR" sz="1600" dirty="0">
                <a:solidFill>
                  <a:schemeClr val="tx1"/>
                </a:solidFill>
                <a:latin typeface="Calibri Light" panose="020F0302020204030204" pitchFamily="34" charset="0"/>
                <a:cs typeface="Times New Roman" panose="02020603050405020304" pitchFamily="18" charset="0"/>
              </a:rPr>
              <a:t>}, Installation</a:t>
            </a: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E64F9FA7-3D5F-40A9-B58D-9B2894D6570E}"/>
              </a:ext>
            </a:extLst>
          </p:cNvPr>
          <p:cNvSpPr/>
          <p:nvPr/>
        </p:nvSpPr>
        <p:spPr>
          <a:xfrm>
            <a:off x="6247727" y="3735368"/>
            <a:ext cx="3305847" cy="1258295"/>
          </a:xfrm>
          <a:prstGeom prst="roundRect">
            <a:avLst/>
          </a:prstGeom>
          <a:noFill/>
          <a:ln w="28575"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600" b="1" dirty="0">
                <a:solidFill>
                  <a:srgbClr val="3C3939"/>
                </a:solidFill>
                <a:latin typeface="+mj-lt"/>
                <a:ea typeface="Raleway" pitchFamily="34" charset="-122"/>
                <a:cs typeface="Raleway" pitchFamily="34" charset="-120"/>
              </a:rPr>
              <a:t>Développement collaboratif</a:t>
            </a:r>
          </a:p>
          <a:p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Travail d’équipe pour la robustesse,</a:t>
            </a:r>
            <a:b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</a:br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Projet Open Source : GitHub,</a:t>
            </a:r>
            <a:b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</a:br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  <a:cs typeface="Roboto" pitchFamily="34" charset="-120"/>
              </a:rPr>
              <a:t>Amélioration c</a:t>
            </a:r>
            <a:r>
              <a:rPr lang="fr-FR" sz="1600" dirty="0">
                <a:solidFill>
                  <a:srgbClr val="3C3939"/>
                </a:solidFill>
                <a:latin typeface="+mj-lt"/>
                <a:ea typeface="Roboto" pitchFamily="34" charset="-122"/>
              </a:rPr>
              <a:t>ontinue</a:t>
            </a:r>
            <a:endParaRPr lang="fr-FR" sz="1800" dirty="0">
              <a:latin typeface="+mj-lt"/>
            </a:endParaRPr>
          </a:p>
        </p:txBody>
      </p:sp>
      <p:sp>
        <p:nvSpPr>
          <p:cNvPr id="55" name="Flèche : droite 54">
            <a:extLst>
              <a:ext uri="{FF2B5EF4-FFF2-40B4-BE49-F238E27FC236}">
                <a16:creationId xmlns:a16="http://schemas.microsoft.com/office/drawing/2014/main" id="{1E1C613D-602F-4B51-AFDB-2A301CBCAF09}"/>
              </a:ext>
            </a:extLst>
          </p:cNvPr>
          <p:cNvSpPr/>
          <p:nvPr/>
        </p:nvSpPr>
        <p:spPr>
          <a:xfrm>
            <a:off x="2423690" y="4157499"/>
            <a:ext cx="409223" cy="40527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Flèche : droite 55">
            <a:extLst>
              <a:ext uri="{FF2B5EF4-FFF2-40B4-BE49-F238E27FC236}">
                <a16:creationId xmlns:a16="http://schemas.microsoft.com/office/drawing/2014/main" id="{14F7EAB6-6958-4817-BD7E-0713FA916679}"/>
              </a:ext>
            </a:extLst>
          </p:cNvPr>
          <p:cNvSpPr/>
          <p:nvPr/>
        </p:nvSpPr>
        <p:spPr>
          <a:xfrm>
            <a:off x="5838504" y="4157499"/>
            <a:ext cx="409223" cy="405272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088629E7-8B3B-40F7-9032-D20B3E2C1637}"/>
              </a:ext>
            </a:extLst>
          </p:cNvPr>
          <p:cNvSpPr txBox="1"/>
          <p:nvPr/>
        </p:nvSpPr>
        <p:spPr>
          <a:xfrm>
            <a:off x="6247727" y="6014799"/>
            <a:ext cx="33010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ED7D31"/>
                </a:solidFill>
              </a:rPr>
              <a:t>Comparaison de groupes</a:t>
            </a:r>
            <a:endParaRPr lang="en-GB" dirty="0">
              <a:solidFill>
                <a:srgbClr val="ED7D31"/>
              </a:solidFill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26DD738F-E8DB-4E67-AB5A-EB12F145FA79}"/>
              </a:ext>
            </a:extLst>
          </p:cNvPr>
          <p:cNvSpPr txBox="1"/>
          <p:nvPr/>
        </p:nvSpPr>
        <p:spPr>
          <a:xfrm>
            <a:off x="5712583" y="8288007"/>
            <a:ext cx="3898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ED7D31"/>
                </a:solidFill>
              </a:rPr>
              <a:t>Comparaison longitudinale</a:t>
            </a:r>
            <a:endParaRPr lang="en-GB" dirty="0">
              <a:solidFill>
                <a:srgbClr val="ED7D31"/>
              </a:solidFill>
            </a:endParaRP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E5D83BE8-33E9-47A1-A4C2-3D445A97886B}"/>
              </a:ext>
            </a:extLst>
          </p:cNvPr>
          <p:cNvSpPr/>
          <p:nvPr/>
        </p:nvSpPr>
        <p:spPr>
          <a:xfrm>
            <a:off x="27462" y="7661181"/>
            <a:ext cx="5675085" cy="127990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2E4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>
                <a:solidFill>
                  <a:srgbClr val="558ED5"/>
                </a:solidFill>
                <a:effectLst/>
                <a:latin typeface="Consolas" panose="020B0609020204030204" pitchFamily="49" charset="0"/>
              </a:rPr>
              <a:t>save_excel_paired_results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dataframe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my_df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vars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 c(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"TAILLE"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"Bilan_color"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varstrat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"VISITE"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 patient_id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fr-FR" sz="1400" dirty="0">
                <a:solidFill>
                  <a:srgbClr val="CE9178"/>
                </a:solidFill>
                <a:latin typeface="Consolas" panose="020B0609020204030204" pitchFamily="49" charset="0"/>
              </a:rPr>
              <a:t>"ID_col"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file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"Desc_by_v</a:t>
            </a:r>
            <a:r>
              <a:rPr lang="fr-FR" sz="1400" dirty="0">
                <a:solidFill>
                  <a:srgbClr val="CE9178"/>
                </a:solidFill>
                <a:latin typeface="Consolas" panose="020B0609020204030204" pitchFamily="49" charset="0"/>
              </a:rPr>
              <a:t>isite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.xlsx"</a:t>
            </a:r>
            <a:endParaRPr lang="fr-FR" sz="1400" b="0" dirty="0">
              <a:solidFill>
                <a:schemeClr val="accent3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CEFB03E6-D201-4B11-A6D0-96849DF820B0}"/>
              </a:ext>
            </a:extLst>
          </p:cNvPr>
          <p:cNvSpPr/>
          <p:nvPr/>
        </p:nvSpPr>
        <p:spPr>
          <a:xfrm>
            <a:off x="28246" y="10029271"/>
            <a:ext cx="5674301" cy="127990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52E4D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b="1" dirty="0">
                <a:solidFill>
                  <a:srgbClr val="558ED5"/>
                </a:solidFill>
                <a:effectLst/>
                <a:latin typeface="Consolas" panose="020B0609020204030204" pitchFamily="49" charset="0"/>
              </a:rPr>
              <a:t>save_excel_results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dataframe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my_df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vars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 c(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"IMC"</a:t>
            </a:r>
            <a:r>
              <a:rPr lang="fr-FR" sz="1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fr-FR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binary_test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varstrat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"VISITE*BRAS"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r-FR" sz="1400" dirty="0">
                <a:solidFill>
                  <a:srgbClr val="558ED5"/>
                </a:solidFill>
                <a:latin typeface="Consolas" panose="020B0609020204030204" pitchFamily="49" charset="0"/>
              </a:rPr>
              <a:t>file</a:t>
            </a:r>
            <a:r>
              <a:rPr lang="fr-FR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= </a:t>
            </a:r>
            <a:r>
              <a:rPr lang="fr-FR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"Desc_bras_by_visite.xlsx"</a:t>
            </a:r>
            <a:endParaRPr lang="fr-FR" sz="1400" b="0" dirty="0">
              <a:solidFill>
                <a:schemeClr val="accent3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400" b="0" dirty="0">
                <a:solidFill>
                  <a:schemeClr val="accent3">
                    <a:lumMod val="75000"/>
                  </a:schemeClr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80E042A-7B18-4574-A3F5-9B2D38FDF595}"/>
              </a:ext>
            </a:extLst>
          </p:cNvPr>
          <p:cNvSpPr txBox="1"/>
          <p:nvPr/>
        </p:nvSpPr>
        <p:spPr>
          <a:xfrm>
            <a:off x="6979921" y="10611044"/>
            <a:ext cx="2621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>
              <a:buFont typeface="Wingdings" panose="05000000000000000000" pitchFamily="2" charset="2"/>
              <a:buChar char="ü"/>
            </a:pPr>
            <a:r>
              <a:rPr lang="fr-FR" dirty="0">
                <a:solidFill>
                  <a:srgbClr val="ED7D31"/>
                </a:solidFill>
              </a:rPr>
              <a:t>Description croisée</a:t>
            </a:r>
            <a:endParaRPr lang="en-GB" dirty="0">
              <a:solidFill>
                <a:srgbClr val="ED7D31"/>
              </a:solidFill>
            </a:endParaRP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AA7E4BE2-A354-44E3-8EF7-28572563A513}"/>
              </a:ext>
            </a:extLst>
          </p:cNvPr>
          <p:cNvSpPr txBox="1"/>
          <p:nvPr/>
        </p:nvSpPr>
        <p:spPr>
          <a:xfrm>
            <a:off x="0" y="12008331"/>
            <a:ext cx="1352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GB" sz="1400" dirty="0">
                <a:solidFill>
                  <a:srgbClr val="ED7D31"/>
                </a:solidFill>
              </a:rPr>
              <a:t>Et </a:t>
            </a:r>
            <a:r>
              <a:rPr lang="en-GB" sz="1400" dirty="0" err="1">
                <a:solidFill>
                  <a:srgbClr val="ED7D31"/>
                </a:solidFill>
              </a:rPr>
              <a:t>d’autres</a:t>
            </a:r>
            <a:r>
              <a:rPr lang="en-GB" sz="1400" dirty="0">
                <a:solidFill>
                  <a:srgbClr val="ED7D31"/>
                </a:solidFill>
              </a:rPr>
              <a:t> options…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1DA171E-A31C-4ACB-8212-EF91B344A0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82" t="18422" r="23936" b="24900"/>
          <a:stretch/>
        </p:blipFill>
        <p:spPr>
          <a:xfrm>
            <a:off x="7947251" y="29028"/>
            <a:ext cx="1461069" cy="1015052"/>
          </a:xfrm>
          <a:prstGeom prst="rect">
            <a:avLst/>
          </a:prstGeom>
        </p:spPr>
      </p:pic>
      <p:pic>
        <p:nvPicPr>
          <p:cNvPr id="46" name="Image 45">
            <a:extLst>
              <a:ext uri="{FF2B5EF4-FFF2-40B4-BE49-F238E27FC236}">
                <a16:creationId xmlns:a16="http://schemas.microsoft.com/office/drawing/2014/main" id="{F17C595F-0FC9-42A3-8212-6F0CC865BF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6197" y="1460287"/>
            <a:ext cx="217503" cy="192764"/>
          </a:xfrm>
          <a:prstGeom prst="rect">
            <a:avLst/>
          </a:prstGeom>
        </p:spPr>
      </p:pic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AAD89253-322C-479E-AA24-B58EE04F2B0A}"/>
              </a:ext>
            </a:extLst>
          </p:cNvPr>
          <p:cNvSpPr/>
          <p:nvPr/>
        </p:nvSpPr>
        <p:spPr>
          <a:xfrm>
            <a:off x="4971011" y="5186643"/>
            <a:ext cx="3866709" cy="379541"/>
          </a:xfrm>
          <a:prstGeom prst="roundRect">
            <a:avLst>
              <a:gd name="adj" fmla="val 6187"/>
            </a:avLst>
          </a:prstGeom>
          <a:solidFill>
            <a:srgbClr val="51BAA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>
                <a:effectLst/>
                <a:latin typeface="+mj-lt"/>
                <a:ea typeface="Times New Roman" panose="02020603050405020304" pitchFamily="18" charset="0"/>
              </a:rPr>
              <a:t>https://github.com/GHICL-DRCI/R2Excel </a:t>
            </a: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8447DD18-9D2A-4B7B-83A2-0C595D13F6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786" y="4620380"/>
            <a:ext cx="933451" cy="9334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135DB25-7D07-4D99-A169-3003F000006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587"/>
          <a:stretch/>
        </p:blipFill>
        <p:spPr>
          <a:xfrm>
            <a:off x="419100" y="6396485"/>
            <a:ext cx="9192137" cy="1233534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9C8A8A1-183B-4686-A7ED-8B588A38C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70505" y="8668972"/>
            <a:ext cx="7330696" cy="66675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7FA7767-48EE-4672-A55D-123718B306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7700" y="9305242"/>
            <a:ext cx="5143500" cy="66675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2F91326-2418-416D-B065-00335146AB7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101" y="10980376"/>
            <a:ext cx="9182100" cy="79140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5504B219-C0A3-4A79-A1D9-3B04A83977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87697" y="11745033"/>
            <a:ext cx="8413503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976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Thèm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hèm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553</TotalTime>
  <Words>417</Words>
  <Application>Microsoft Office PowerPoint</Application>
  <PresentationFormat>A3 (297 x 420 mm)</PresentationFormat>
  <Paragraphs>37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Consolas</vt:lpstr>
      <vt:lpstr>Courier New</vt:lpstr>
      <vt:lpstr>Wingdings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Boissel_Mathilde</dc:creator>
  <cp:lastModifiedBy>Chaldaureille_Cassandra</cp:lastModifiedBy>
  <cp:revision>77</cp:revision>
  <cp:lastPrinted>2025-04-24T14:02:01Z</cp:lastPrinted>
  <dcterms:created xsi:type="dcterms:W3CDTF">2025-02-21T12:39:36Z</dcterms:created>
  <dcterms:modified xsi:type="dcterms:W3CDTF">2025-04-30T08:44:40Z</dcterms:modified>
</cp:coreProperties>
</file>